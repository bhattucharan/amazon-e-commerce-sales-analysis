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368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73213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56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845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03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80155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447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462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553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2912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7019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80784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1212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8635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58791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2307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7025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21152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151" y="671053"/>
            <a:ext cx="6620968" cy="3329581"/>
          </a:xfrm>
        </p:spPr>
        <p:txBody>
          <a:bodyPr/>
          <a:lstStyle/>
          <a:p>
            <a:r>
              <a:rPr sz="4400" dirty="0"/>
              <a:t>Amazon E-commerce Sales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Data-Driven Performance &amp; Operational Insights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dirty="0">
                <a:solidFill>
                  <a:schemeClr val="tx1"/>
                </a:solidFill>
                <a:latin typeface="Arial Black"/>
              </a:rPr>
              <a:t>Business Performance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Calibri"/>
              </a:defRPr>
            </a:pPr>
            <a:r>
              <a:t>Total Sales: 9.94 Billion (2024–2026)</a:t>
            </a:r>
          </a:p>
          <a:p>
            <a:pPr>
              <a:defRPr sz="2000">
                <a:latin typeface="Calibri"/>
              </a:defRPr>
            </a:pPr>
            <a:r>
              <a:t>Total Orders: 1 Million</a:t>
            </a:r>
          </a:p>
          <a:p>
            <a:pPr>
              <a:defRPr sz="2000">
                <a:latin typeface="Calibri"/>
              </a:defRPr>
            </a:pPr>
            <a:r>
              <a:t>Return Rate: 11.06%</a:t>
            </a:r>
          </a:p>
          <a:p>
            <a:pPr>
              <a:defRPr sz="2000">
                <a:latin typeface="Calibri"/>
              </a:defRPr>
            </a:pPr>
            <a:r>
              <a:t>Total Returns: 116K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dirty="0">
                <a:solidFill>
                  <a:schemeClr val="tx1"/>
                </a:solidFill>
                <a:latin typeface="Arial Black"/>
              </a:rPr>
              <a:t>Market Performance &amp; Customer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Calibri"/>
              </a:defRPr>
            </a:pPr>
            <a:r>
              <a:t>Electronics leads sales, followed by Sports and Clothing</a:t>
            </a:r>
          </a:p>
          <a:p>
            <a:pPr>
              <a:defRPr sz="2000">
                <a:latin typeface="Calibri"/>
              </a:defRPr>
            </a:pPr>
            <a:r>
              <a:t>Lenovo has highest average product rating</a:t>
            </a:r>
          </a:p>
          <a:p>
            <a:pPr>
              <a:defRPr sz="2000">
                <a:latin typeface="Calibri"/>
              </a:defRPr>
            </a:pPr>
            <a:r>
              <a:t>Orders evenly distributed; Mobile leads slightly</a:t>
            </a:r>
          </a:p>
          <a:p>
            <a:pPr>
              <a:defRPr sz="2000">
                <a:latin typeface="Calibri"/>
              </a:defRPr>
            </a:pPr>
            <a:r>
              <a:t>Delhi leads sales, followed by Bangalore and Mumbai</a:t>
            </a:r>
          </a:p>
          <a:p>
            <a:pPr>
              <a:defRPr sz="2000">
                <a:latin typeface="Calibri"/>
              </a:defRPr>
            </a:pPr>
            <a:r>
              <a:t>UPI is the most used payment method</a:t>
            </a:r>
          </a:p>
          <a:p>
            <a:pPr>
              <a:defRPr sz="2000">
                <a:latin typeface="Calibri"/>
              </a:defRPr>
            </a:pPr>
            <a:r>
              <a:t>Electronics shows strong demand and category dominance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dirty="0">
                <a:solidFill>
                  <a:schemeClr val="tx1"/>
                </a:solidFill>
                <a:latin typeface="Arial Black"/>
              </a:rPr>
              <a:t>Impact of Product Ratings on Sales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Calibri"/>
              </a:defRPr>
            </a:pPr>
            <a:r>
              <a:t>Lowest performing brands: HP, Sony, Apple, Adidas</a:t>
            </a:r>
          </a:p>
          <a:p>
            <a:pPr>
              <a:defRPr sz="2000">
                <a:latin typeface="Calibri"/>
              </a:defRPr>
            </a:pPr>
            <a:r>
              <a:t>Ratings 3.3–4.3 increase sales by 2.11M</a:t>
            </a:r>
          </a:p>
          <a:p>
            <a:pPr>
              <a:defRPr sz="2000">
                <a:latin typeface="Calibri"/>
              </a:defRPr>
            </a:pPr>
            <a:r>
              <a:t>Ratings 4.3–4.5 increase sales by 416.8K</a:t>
            </a:r>
          </a:p>
          <a:p>
            <a:pPr>
              <a:defRPr sz="2000">
                <a:latin typeface="Calibri"/>
              </a:defRPr>
            </a:pPr>
            <a:r>
              <a:t>Ratings ≤3.1 decrease sales by 2.03M</a:t>
            </a:r>
          </a:p>
          <a:p>
            <a:pPr>
              <a:defRPr sz="2000">
                <a:latin typeface="Calibri"/>
              </a:defRPr>
            </a:pPr>
            <a:r>
              <a:t>Product rating strongly drives revenue performance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dirty="0">
                <a:solidFill>
                  <a:schemeClr val="tx1"/>
                </a:solidFill>
                <a:latin typeface="Arial Black"/>
              </a:rPr>
              <a:t>Category Performance &amp; Optimization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Calibri"/>
              </a:defRPr>
            </a:pPr>
            <a:r>
              <a:t>Sports (≤3.1 rating) reduces sales by 554K</a:t>
            </a:r>
          </a:p>
          <a:p>
            <a:pPr>
              <a:defRPr sz="2000">
                <a:latin typeface="Calibri"/>
              </a:defRPr>
            </a:pPr>
            <a:r>
              <a:t>Beauty (≤3.1 rating) reduces sales by 574K</a:t>
            </a:r>
          </a:p>
          <a:p>
            <a:pPr>
              <a:defRPr sz="2000">
                <a:latin typeface="Calibri"/>
              </a:defRPr>
            </a:pPr>
            <a:r>
              <a:t>Below average sales benchmark of 2.02M</a:t>
            </a:r>
          </a:p>
          <a:p>
            <a:pPr>
              <a:defRPr sz="2000">
                <a:latin typeface="Calibri"/>
              </a:defRPr>
            </a:pPr>
            <a:r>
              <a:t>Low-rated products reduce category performance</a:t>
            </a:r>
          </a:p>
          <a:p>
            <a:pPr>
              <a:defRPr sz="2000">
                <a:latin typeface="Calibri"/>
              </a:defRPr>
            </a:pPr>
            <a:r>
              <a:t>Improve quality, descriptions, reviews, and support</a:t>
            </a:r>
          </a:p>
          <a:p>
            <a:pPr>
              <a:defRPr sz="2000">
                <a:latin typeface="Calibri"/>
              </a:defRPr>
            </a:pPr>
            <a:r>
              <a:t>Headphones, Laptops, Mobile boost ratings &amp; sales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dirty="0">
                <a:solidFill>
                  <a:schemeClr val="tx1"/>
                </a:solidFill>
                <a:latin typeface="Arial Black"/>
              </a:rPr>
              <a:t>Customer Satisfaction &amp; Return Risk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Calibri"/>
              </a:defRPr>
            </a:pPr>
            <a:r>
              <a:t>Electronics has highest average rating</a:t>
            </a:r>
          </a:p>
          <a:p>
            <a:pPr>
              <a:defRPr sz="2000">
                <a:latin typeface="Calibri"/>
              </a:defRPr>
            </a:pPr>
            <a:r>
              <a:t>Low-rated: Kids, Skincare, Women, Haircare, Makeup</a:t>
            </a:r>
          </a:p>
          <a:p>
            <a:pPr>
              <a:defRPr sz="2000">
                <a:latin typeface="Calibri"/>
              </a:defRPr>
            </a:pPr>
            <a:r>
              <a:t>Mobile has 1.13x higher return probability</a:t>
            </a:r>
          </a:p>
          <a:p>
            <a:pPr>
              <a:defRPr sz="2000">
                <a:latin typeface="Calibri"/>
              </a:defRPr>
            </a:pPr>
            <a:r>
              <a:t>High-return: Kitchen, Decor, Headphones, Outdoor</a:t>
            </a:r>
          </a:p>
          <a:p>
            <a:pPr>
              <a:defRPr sz="2000">
                <a:latin typeface="Calibri"/>
              </a:defRPr>
            </a:pPr>
            <a:r>
              <a:t>High-return brands: Lenovo, ZARA, H&amp;M, Boat, Sony</a:t>
            </a:r>
          </a:p>
          <a:p>
            <a:pPr>
              <a:defRPr sz="2000">
                <a:latin typeface="Calibri"/>
              </a:defRPr>
            </a:pPr>
            <a:r>
              <a:t>Improve quality, descriptions, packaging, and QC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</TotalTime>
  <Words>238</Words>
  <Application>Microsoft Office PowerPoint</Application>
  <PresentationFormat>On-screen Show (4:3)</PresentationFormat>
  <Paragraphs>34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 Black</vt:lpstr>
      <vt:lpstr>Century Gothic</vt:lpstr>
      <vt:lpstr>Wingdings 3</vt:lpstr>
      <vt:lpstr>Ion</vt:lpstr>
      <vt:lpstr>Amazon E-commerce Sales Analysis</vt:lpstr>
      <vt:lpstr>Business Performance Overview</vt:lpstr>
      <vt:lpstr>Market Performance &amp; Customer Behavior</vt:lpstr>
      <vt:lpstr>Impact of Product Ratings on Sales</vt:lpstr>
      <vt:lpstr>Category Performance &amp; Optimization</vt:lpstr>
      <vt:lpstr>Customer Satisfaction &amp; Return Risk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bhattu charan</cp:lastModifiedBy>
  <cp:revision>2</cp:revision>
  <dcterms:created xsi:type="dcterms:W3CDTF">2013-01-27T09:14:16Z</dcterms:created>
  <dcterms:modified xsi:type="dcterms:W3CDTF">2026-05-03T18:10:19Z</dcterms:modified>
  <cp:category/>
</cp:coreProperties>
</file>